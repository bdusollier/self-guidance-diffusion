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3"/>
  </p:notesMasterIdLst>
  <p:sldIdLst>
    <p:sldId id="256" r:id="rId2"/>
    <p:sldId id="258" r:id="rId3"/>
    <p:sldId id="260" r:id="rId4"/>
    <p:sldId id="266" r:id="rId5"/>
    <p:sldId id="310" r:id="rId6"/>
    <p:sldId id="311" r:id="rId7"/>
    <p:sldId id="313" r:id="rId8"/>
    <p:sldId id="317" r:id="rId9"/>
    <p:sldId id="315" r:id="rId10"/>
    <p:sldId id="320" r:id="rId11"/>
    <p:sldId id="318" r:id="rId12"/>
    <p:sldId id="319" r:id="rId13"/>
    <p:sldId id="316" r:id="rId14"/>
    <p:sldId id="314" r:id="rId15"/>
    <p:sldId id="321" r:id="rId16"/>
    <p:sldId id="323" r:id="rId17"/>
    <p:sldId id="327" r:id="rId18"/>
    <p:sldId id="324" r:id="rId19"/>
    <p:sldId id="326" r:id="rId20"/>
    <p:sldId id="292" r:id="rId21"/>
    <p:sldId id="290" r:id="rId22"/>
  </p:sldIdLst>
  <p:sldSz cx="9144000" cy="5143500" type="screen16x9"/>
  <p:notesSz cx="6858000" cy="9144000"/>
  <p:embeddedFontLst>
    <p:embeddedFont>
      <p:font typeface="Albert Sans" panose="020B0604020202020204" charset="0"/>
      <p:regular r:id="rId24"/>
      <p:bold r:id="rId25"/>
      <p:italic r:id="rId26"/>
      <p:boldItalic r:id="rId27"/>
    </p:embeddedFont>
    <p:embeddedFont>
      <p:font typeface="Alexandria Medium" panose="020B0604020202020204" charset="-78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03E48C-BB0B-4F9B-BAC1-B00B26FAA4E6}">
  <a:tblStyle styleId="{A103E48C-BB0B-4F9B-BAC1-B00B26FAA4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2EA419D-B666-448D-BB0D-ADA0C814B76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74911F39-EA29-1AD7-727F-7E0E400C6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BECD81E5-2E5B-6875-9692-78ECD485BC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712E445C-5AA4-5981-AD05-C3B3A36311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453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B72DA91F-7934-B3E3-6E5C-B9538DF54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6A82E8A5-6923-4B85-B805-453D11143A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464C66FD-2938-BCDC-D206-F2735F9B22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5694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0C74D6D4-5CEB-2FDD-8187-492F2D12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9D1ABD8A-9087-8977-F1C3-FA1570DB9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2881A06C-5846-DF84-2A42-3BE46A89B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0127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0650FA76-8159-B494-CD9A-50648ED4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55960221-9E6C-77FC-FA64-6421B6851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9BF0330E-04F0-0581-B9B8-4D4510DD59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977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602509D8-5C56-9BD3-FCB5-A14F1D73B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9E2DFD71-498D-A10B-15E8-287C8A7512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E28697FA-39CB-B804-F09D-DB331F2E7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6346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572bee519d_0_9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2572bee519d_0_9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572bee519d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572bee519d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3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715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2"/>
          </p:nvPr>
        </p:nvSpPr>
        <p:spPr>
          <a:xfrm>
            <a:off x="7151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3"/>
          </p:nvPr>
        </p:nvSpPr>
        <p:spPr>
          <a:xfrm>
            <a:off x="3506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4"/>
          </p:nvPr>
        </p:nvSpPr>
        <p:spPr>
          <a:xfrm>
            <a:off x="3506099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5"/>
          </p:nvPr>
        </p:nvSpPr>
        <p:spPr>
          <a:xfrm>
            <a:off x="6297202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6"/>
          </p:nvPr>
        </p:nvSpPr>
        <p:spPr>
          <a:xfrm>
            <a:off x="62972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"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 rotWithShape="1">
          <a:blip r:embed="rId2">
            <a:alphaModFix/>
          </a:blip>
          <a:srcRect l="-6643" t="-11183" r="27548" b="-11170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 txBox="1">
            <a:spLocks noGrp="1"/>
          </p:cNvSpPr>
          <p:nvPr>
            <p:ph type="ctrTitle"/>
          </p:nvPr>
        </p:nvSpPr>
        <p:spPr>
          <a:xfrm>
            <a:off x="715100" y="3330625"/>
            <a:ext cx="38568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subTitle" idx="1"/>
          </p:nvPr>
        </p:nvSpPr>
        <p:spPr>
          <a:xfrm>
            <a:off x="4571900" y="535000"/>
            <a:ext cx="26838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4571863" y="2278000"/>
            <a:ext cx="26838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9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9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6" r:id="rId5"/>
    <p:sldLayoutId id="2147483674" r:id="rId6"/>
    <p:sldLayoutId id="2147483675" r:id="rId7"/>
    <p:sldLayoutId id="214748367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_files/paper/2024/file/5ee7ed60a7e8169012224dec5fe0d27f-Paper-Conference.pdf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_files/paper/2024/file/5ee7ed60a7e8169012224dec5fe0d27f-Paper-Conference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youtube.com/watch?v=iv-5mZ_9CPY" TargetMode="External"/><Relationship Id="rId4" Type="http://schemas.openxmlformats.org/officeDocument/2006/relationships/hyperlink" Target="https://arxiv.org/abs/2510.21890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198792" y="263615"/>
            <a:ext cx="5748524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noProof="0" dirty="0"/>
              <a:t>Image generation with </a:t>
            </a:r>
            <a:r>
              <a:rPr lang="en-US" sz="4000" noProof="0" dirty="0" err="1"/>
              <a:t>Autoguidance</a:t>
            </a:r>
            <a:endParaRPr lang="en-US" sz="4000" noProof="0" dirty="0"/>
          </a:p>
        </p:txBody>
      </p:sp>
      <p:sp>
        <p:nvSpPr>
          <p:cNvPr id="191" name="Google Shape;191;p35"/>
          <p:cNvSpPr txBox="1">
            <a:spLocks noGrp="1"/>
          </p:cNvSpPr>
          <p:nvPr>
            <p:ph type="subTitle" idx="1"/>
          </p:nvPr>
        </p:nvSpPr>
        <p:spPr>
          <a:xfrm>
            <a:off x="4943708" y="4447081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Baptiste Dusollier</a:t>
            </a:r>
            <a:endParaRPr lang="en-US" b="1" noProof="0" dirty="0"/>
          </a:p>
        </p:txBody>
      </p:sp>
      <p:pic>
        <p:nvPicPr>
          <p:cNvPr id="1026" name="Picture 2" descr="Comment fonctionne la génération d'images par IA ?">
            <a:extLst>
              <a:ext uri="{FF2B5EF4-FFF2-40B4-BE49-F238E27FC236}">
                <a16:creationId xmlns:a16="http://schemas.microsoft.com/office/drawing/2014/main" id="{5A73DB1F-0F5B-07A3-C71B-9CEDF6816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522" y="1755053"/>
            <a:ext cx="4306956" cy="24816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91;p35">
            <a:extLst>
              <a:ext uri="{FF2B5EF4-FFF2-40B4-BE49-F238E27FC236}">
                <a16:creationId xmlns:a16="http://schemas.microsoft.com/office/drawing/2014/main" id="{A7EC22C8-224A-F050-A4DD-60CBA8280A8F}"/>
              </a:ext>
            </a:extLst>
          </p:cNvPr>
          <p:cNvSpPr txBox="1">
            <a:spLocks/>
          </p:cNvSpPr>
          <p:nvPr/>
        </p:nvSpPr>
        <p:spPr>
          <a:xfrm>
            <a:off x="89209" y="4491685"/>
            <a:ext cx="1947747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 algn="l"/>
            <a:r>
              <a:rPr lang="en-US" noProof="0" dirty="0"/>
              <a:t>SDD 2025-2026</a:t>
            </a:r>
            <a:endParaRPr lang="en-US" b="1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/>
              <a:t>01</a:t>
            </a:r>
          </a:p>
        </p:txBody>
      </p:sp>
      <p:sp>
        <p:nvSpPr>
          <p:cNvPr id="207" name="Google Shape;207;p37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/>
              <a:t>Diffusion models</a:t>
            </a:r>
          </a:p>
        </p:txBody>
      </p:sp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Table of Contents</a:t>
            </a:r>
          </a:p>
        </p:txBody>
      </p:sp>
      <p:sp>
        <p:nvSpPr>
          <p:cNvPr id="209" name="Google Shape;209;p37"/>
          <p:cNvSpPr txBox="1">
            <a:spLocks noGrp="1"/>
          </p:cNvSpPr>
          <p:nvPr>
            <p:ph type="title" idx="3"/>
          </p:nvPr>
        </p:nvSpPr>
        <p:spPr>
          <a:xfrm>
            <a:off x="3196807" y="1917668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/>
              <a:t>02</a:t>
            </a:r>
          </a:p>
        </p:txBody>
      </p:sp>
      <p:sp>
        <p:nvSpPr>
          <p:cNvPr id="210" name="Google Shape;210;p37"/>
          <p:cNvSpPr txBox="1">
            <a:spLocks noGrp="1"/>
          </p:cNvSpPr>
          <p:nvPr>
            <p:ph type="subTitle" idx="4"/>
          </p:nvPr>
        </p:nvSpPr>
        <p:spPr>
          <a:xfrm>
            <a:off x="3735232" y="1917676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/>
              <a:t>Classifier-free guidance</a:t>
            </a:r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 idx="5"/>
          </p:nvPr>
        </p:nvSpPr>
        <p:spPr>
          <a:xfrm>
            <a:off x="5151973" y="2720807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/>
              <a:t>03</a:t>
            </a:r>
          </a:p>
        </p:txBody>
      </p:sp>
      <p:sp>
        <p:nvSpPr>
          <p:cNvPr id="212" name="Google Shape;212;p37"/>
          <p:cNvSpPr txBox="1">
            <a:spLocks noGrp="1"/>
          </p:cNvSpPr>
          <p:nvPr>
            <p:ph type="subTitle" idx="6"/>
          </p:nvPr>
        </p:nvSpPr>
        <p:spPr>
          <a:xfrm>
            <a:off x="5690398" y="2720797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 err="1"/>
              <a:t>Autoguidance</a:t>
            </a:r>
            <a:endParaRPr lang="en-US" sz="2000" noProof="0" dirty="0"/>
          </a:p>
        </p:txBody>
      </p:sp>
      <p:sp>
        <p:nvSpPr>
          <p:cNvPr id="213" name="Google Shape;213;p37"/>
          <p:cNvSpPr txBox="1">
            <a:spLocks noGrp="1"/>
          </p:cNvSpPr>
          <p:nvPr>
            <p:ph type="title" idx="7"/>
          </p:nvPr>
        </p:nvSpPr>
        <p:spPr>
          <a:xfrm>
            <a:off x="1122693" y="2929186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/>
              <a:t>04</a:t>
            </a:r>
          </a:p>
        </p:txBody>
      </p:sp>
      <p:sp>
        <p:nvSpPr>
          <p:cNvPr id="214" name="Google Shape;214;p37"/>
          <p:cNvSpPr txBox="1">
            <a:spLocks noGrp="1"/>
          </p:cNvSpPr>
          <p:nvPr>
            <p:ph type="subTitle" idx="8"/>
          </p:nvPr>
        </p:nvSpPr>
        <p:spPr>
          <a:xfrm>
            <a:off x="1661117" y="2929184"/>
            <a:ext cx="3267721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/>
              <a:t>Code Demonstration</a:t>
            </a:r>
          </a:p>
        </p:txBody>
      </p:sp>
      <p:sp>
        <p:nvSpPr>
          <p:cNvPr id="215" name="Google Shape;215;p37"/>
          <p:cNvSpPr txBox="1">
            <a:spLocks noGrp="1"/>
          </p:cNvSpPr>
          <p:nvPr>
            <p:ph type="title" idx="9"/>
          </p:nvPr>
        </p:nvSpPr>
        <p:spPr>
          <a:xfrm>
            <a:off x="3269643" y="3604993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/>
              <a:t>05</a:t>
            </a:r>
          </a:p>
        </p:txBody>
      </p:sp>
      <p:sp>
        <p:nvSpPr>
          <p:cNvPr id="216" name="Google Shape;216;p37"/>
          <p:cNvSpPr txBox="1">
            <a:spLocks noGrp="1"/>
          </p:cNvSpPr>
          <p:nvPr>
            <p:ph type="subTitle" idx="13"/>
          </p:nvPr>
        </p:nvSpPr>
        <p:spPr>
          <a:xfrm>
            <a:off x="3808144" y="3604993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Discussion &amp; f</a:t>
            </a:r>
            <a:r>
              <a:rPr lang="en-US" sz="2000" noProof="0" dirty="0" err="1"/>
              <a:t>uture</a:t>
            </a:r>
            <a:r>
              <a:rPr lang="en-US" sz="2000" noProof="0" dirty="0"/>
              <a:t>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noProof="0" dirty="0"/>
              <a:t>Diffusion Models</a:t>
            </a:r>
          </a:p>
        </p:txBody>
      </p:sp>
      <p:sp>
        <p:nvSpPr>
          <p:cNvPr id="235" name="Google Shape;235;p39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269051" y="2302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Diffusion models</a:t>
            </a:r>
          </a:p>
        </p:txBody>
      </p:sp>
      <p:pic>
        <p:nvPicPr>
          <p:cNvPr id="15" name="Image 14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9A0D676-3704-FE9D-1C23-EB055197F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41" y="1024855"/>
            <a:ext cx="5348999" cy="229981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E79AEA1-9F00-2F3C-DBE7-C03372F04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45" y="3725309"/>
            <a:ext cx="8791910" cy="48998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AB10EA8-4F23-5779-C7D5-0ED5E327D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748" y="1063311"/>
            <a:ext cx="2486372" cy="362001"/>
          </a:xfrm>
          <a:prstGeom prst="rect">
            <a:avLst/>
          </a:prstGeom>
        </p:spPr>
      </p:pic>
      <p:pic>
        <p:nvPicPr>
          <p:cNvPr id="23" name="Image 22" descr="Une image contenant Police, texte, calligraphie, blanc&#10;&#10;Le contenu généré par l’IA peut être incorrect.">
            <a:extLst>
              <a:ext uri="{FF2B5EF4-FFF2-40B4-BE49-F238E27FC236}">
                <a16:creationId xmlns:a16="http://schemas.microsoft.com/office/drawing/2014/main" id="{C7372B86-BFE3-2FE2-7122-FAC7338C17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1823" y="1635605"/>
            <a:ext cx="2083377" cy="626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capture d’écran, cercle, conception&#10;&#10;Le contenu généré par l’IA peut être incorrect.">
            <a:extLst>
              <a:ext uri="{FF2B5EF4-FFF2-40B4-BE49-F238E27FC236}">
                <a16:creationId xmlns:a16="http://schemas.microsoft.com/office/drawing/2014/main" id="{203204A5-2709-9D3C-712F-5C24876A1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700" y="845447"/>
            <a:ext cx="4646600" cy="3452605"/>
          </a:xfrm>
          <a:prstGeom prst="rect">
            <a:avLst/>
          </a:prstGeom>
        </p:spPr>
      </p:pic>
      <p:sp>
        <p:nvSpPr>
          <p:cNvPr id="11" name="Google Shape;294;p45">
            <a:extLst>
              <a:ext uri="{FF2B5EF4-FFF2-40B4-BE49-F238E27FC236}">
                <a16:creationId xmlns:a16="http://schemas.microsoft.com/office/drawing/2014/main" id="{07837BED-A9AF-9D30-BE01-04DEDFB11F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051" y="2302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Visualization</a:t>
            </a:r>
          </a:p>
        </p:txBody>
      </p:sp>
    </p:spTree>
    <p:extLst>
      <p:ext uri="{BB962C8B-B14F-4D97-AF65-F5344CB8AC3E}">
        <p14:creationId xmlns:p14="http://schemas.microsoft.com/office/powerpoint/2010/main" val="134967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973B071E-BF74-B9E8-31B6-20468A5C2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981C9D0C-1D5C-14F8-9140-C2FB3C0B3E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noProof="0" dirty="0"/>
              <a:t>Classifier-free guidance (CFG)</a:t>
            </a:r>
          </a:p>
        </p:txBody>
      </p:sp>
      <p:sp>
        <p:nvSpPr>
          <p:cNvPr id="235" name="Google Shape;235;p39">
            <a:extLst>
              <a:ext uri="{FF2B5EF4-FFF2-40B4-BE49-F238E27FC236}">
                <a16:creationId xmlns:a16="http://schemas.microsoft.com/office/drawing/2014/main" id="{4C27886F-5C5B-919C-2CC4-C2A0CB9501B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07672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4;p45">
            <a:extLst>
              <a:ext uri="{FF2B5EF4-FFF2-40B4-BE49-F238E27FC236}">
                <a16:creationId xmlns:a16="http://schemas.microsoft.com/office/drawing/2014/main" id="{F7F9A072-B6A2-B1A9-CC3E-1C27EE418E4F}"/>
              </a:ext>
            </a:extLst>
          </p:cNvPr>
          <p:cNvSpPr txBox="1">
            <a:spLocks/>
          </p:cNvSpPr>
          <p:nvPr/>
        </p:nvSpPr>
        <p:spPr>
          <a:xfrm>
            <a:off x="269051" y="2302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500" noProof="0" dirty="0">
                <a:latin typeface="Alexandria Medium" panose="020B0604020202020204" charset="-78"/>
                <a:cs typeface="Alexandria Medium" panose="020B0604020202020204" charset="-78"/>
              </a:rPr>
              <a:t>Conditioning </a:t>
            </a:r>
          </a:p>
        </p:txBody>
      </p:sp>
      <p:pic>
        <p:nvPicPr>
          <p:cNvPr id="6" name="Image 5" descr="Une image contenant capture d’écran, texte, cart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762F1444-7209-947B-740E-0D5A949D5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878" y="1119046"/>
            <a:ext cx="4320243" cy="3506382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0964C50-78EA-444B-BB49-17FDAF219605}"/>
              </a:ext>
            </a:extLst>
          </p:cNvPr>
          <p:cNvCxnSpPr>
            <a:cxnSpLocks/>
          </p:cNvCxnSpPr>
          <p:nvPr/>
        </p:nvCxnSpPr>
        <p:spPr>
          <a:xfrm flipV="1">
            <a:off x="1895707" y="1932878"/>
            <a:ext cx="1434791" cy="1174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99EF4FFF-44C7-FADE-638A-214E648C84E4}"/>
              </a:ext>
            </a:extLst>
          </p:cNvPr>
          <p:cNvCxnSpPr>
            <a:cxnSpLocks/>
          </p:cNvCxnSpPr>
          <p:nvPr/>
        </p:nvCxnSpPr>
        <p:spPr>
          <a:xfrm flipH="1" flipV="1">
            <a:off x="3729043" y="2059259"/>
            <a:ext cx="3325962" cy="96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71500598-3C92-8A2C-F74A-02625FBC608D}"/>
              </a:ext>
            </a:extLst>
          </p:cNvPr>
          <p:cNvSpPr txBox="1"/>
          <p:nvPr/>
        </p:nvSpPr>
        <p:spPr>
          <a:xfrm>
            <a:off x="302691" y="2700453"/>
            <a:ext cx="1702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Low </a:t>
            </a:r>
            <a:r>
              <a:rPr lang="fr-FR" dirty="0" err="1"/>
              <a:t>probability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BA30D97-FBCF-410A-63D2-68844AE68660}"/>
              </a:ext>
            </a:extLst>
          </p:cNvPr>
          <p:cNvSpPr txBox="1"/>
          <p:nvPr/>
        </p:nvSpPr>
        <p:spPr>
          <a:xfrm>
            <a:off x="6989667" y="1693129"/>
            <a:ext cx="1702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High </a:t>
            </a:r>
            <a:r>
              <a:rPr lang="fr-FR" dirty="0" err="1"/>
              <a:t>probability</a:t>
            </a:r>
            <a:endParaRPr lang="fr-FR" dirty="0"/>
          </a:p>
        </p:txBody>
      </p:sp>
      <p:pic>
        <p:nvPicPr>
          <p:cNvPr id="28" name="Image 27" descr="Une image contenant noir, symbole, noir et blanc&#10;&#10;Le contenu généré par l’IA peut être incorrect.">
            <a:extLst>
              <a:ext uri="{FF2B5EF4-FFF2-40B4-BE49-F238E27FC236}">
                <a16:creationId xmlns:a16="http://schemas.microsoft.com/office/drawing/2014/main" id="{12B7BD91-A4F3-69AB-995E-0DFEA42E0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550" y="2102175"/>
            <a:ext cx="634781" cy="770062"/>
          </a:xfrm>
          <a:prstGeom prst="rect">
            <a:avLst/>
          </a:prstGeom>
        </p:spPr>
      </p:pic>
      <p:pic>
        <p:nvPicPr>
          <p:cNvPr id="30" name="Image 29" descr="Une image contenant noir, ver, invertébré, noir et blanc&#10;&#10;Le contenu généré par l’IA peut être incorrect.">
            <a:extLst>
              <a:ext uri="{FF2B5EF4-FFF2-40B4-BE49-F238E27FC236}">
                <a16:creationId xmlns:a16="http://schemas.microsoft.com/office/drawing/2014/main" id="{46A1A248-28C2-17C6-7296-E57E698E5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94" y="3107473"/>
            <a:ext cx="710953" cy="74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6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43125E1-CD29-6BF4-3E2C-42D83EB18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837" y="1092624"/>
            <a:ext cx="7354326" cy="71447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9F6EC45-C749-27AD-ACC4-D0DC8E68414B}"/>
              </a:ext>
            </a:extLst>
          </p:cNvPr>
          <p:cNvSpPr txBox="1"/>
          <p:nvPr/>
        </p:nvSpPr>
        <p:spPr>
          <a:xfrm>
            <a:off x="252761" y="297366"/>
            <a:ext cx="13232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noProof="0" dirty="0">
                <a:latin typeface="Alexandria Medium" panose="020B0604020202020204" charset="-78"/>
                <a:cs typeface="Alexandria Medium" panose="020B0604020202020204" charset="-78"/>
              </a:rPr>
              <a:t>CFG</a:t>
            </a:r>
          </a:p>
        </p:txBody>
      </p:sp>
      <p:pic>
        <p:nvPicPr>
          <p:cNvPr id="8" name="Image 7" descr="Une image contenant logo, Graphique, symbole, clipart&#10;&#10;Le contenu généré par l’IA peut être incorrect.">
            <a:extLst>
              <a:ext uri="{FF2B5EF4-FFF2-40B4-BE49-F238E27FC236}">
                <a16:creationId xmlns:a16="http://schemas.microsoft.com/office/drawing/2014/main" id="{FB7F4B9A-9E97-B5F5-440B-74DA6AA15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37" y="2404273"/>
            <a:ext cx="813980" cy="714476"/>
          </a:xfrm>
          <a:prstGeom prst="rect">
            <a:avLst/>
          </a:prstGeom>
        </p:spPr>
      </p:pic>
      <p:pic>
        <p:nvPicPr>
          <p:cNvPr id="10" name="Image 9" descr="Une image contenant logo, Graphique, symbole, clipart&#10;&#10;Le contenu généré par l’IA peut être incorrect.">
            <a:extLst>
              <a:ext uri="{FF2B5EF4-FFF2-40B4-BE49-F238E27FC236}">
                <a16:creationId xmlns:a16="http://schemas.microsoft.com/office/drawing/2014/main" id="{392157D4-4AA5-404F-21DC-8E1AA84EE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456" y="2404273"/>
            <a:ext cx="745702" cy="730380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9718100-BA37-3D67-1779-109F5A9DB620}"/>
              </a:ext>
            </a:extLst>
          </p:cNvPr>
          <p:cNvCxnSpPr/>
          <p:nvPr/>
        </p:nvCxnSpPr>
        <p:spPr>
          <a:xfrm>
            <a:off x="4363844" y="2493483"/>
            <a:ext cx="0" cy="21231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AACCAB77-D44C-92D3-92A6-35FFA281946E}"/>
              </a:ext>
            </a:extLst>
          </p:cNvPr>
          <p:cNvSpPr txBox="1"/>
          <p:nvPr/>
        </p:nvSpPr>
        <p:spPr>
          <a:xfrm>
            <a:off x="2044390" y="2661424"/>
            <a:ext cx="20666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Prompt </a:t>
            </a:r>
            <a:r>
              <a:rPr lang="fr-FR" dirty="0" err="1"/>
              <a:t>Adherence</a:t>
            </a:r>
            <a:endParaRPr lang="fr-FR" dirty="0"/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Improves</a:t>
            </a:r>
            <a:r>
              <a:rPr lang="fr-FR" dirty="0"/>
              <a:t> the image </a:t>
            </a:r>
            <a:r>
              <a:rPr lang="fr-FR" dirty="0" err="1"/>
              <a:t>quality</a:t>
            </a:r>
            <a:r>
              <a:rPr lang="fr-FR" dirty="0"/>
              <a:t> : </a:t>
            </a:r>
            <a:r>
              <a:rPr lang="fr-FR" dirty="0" err="1"/>
              <a:t>enhances</a:t>
            </a:r>
            <a:r>
              <a:rPr lang="fr-FR" dirty="0"/>
              <a:t> </a:t>
            </a:r>
            <a:r>
              <a:rPr lang="fr-FR" dirty="0" err="1"/>
              <a:t>contrast</a:t>
            </a:r>
            <a:r>
              <a:rPr lang="fr-FR" dirty="0"/>
              <a:t> and </a:t>
            </a:r>
            <a:r>
              <a:rPr lang="fr-FR" dirty="0" err="1"/>
              <a:t>sharpness</a:t>
            </a: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DE7B12D-E919-E71A-8780-3710AF1D400E}"/>
              </a:ext>
            </a:extLst>
          </p:cNvPr>
          <p:cNvSpPr txBox="1"/>
          <p:nvPr/>
        </p:nvSpPr>
        <p:spPr>
          <a:xfrm>
            <a:off x="6125737" y="2571750"/>
            <a:ext cx="22599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err="1"/>
              <a:t>Loss</a:t>
            </a:r>
            <a:r>
              <a:rPr lang="fr-FR" dirty="0"/>
              <a:t> of Diversity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en-US" dirty="0"/>
              <a:t>Simplifies the style and layout of the image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48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224B598B-9410-2408-D16A-4310710D9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B8AD5531-653D-8613-F143-1AFFB2DCC0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noProof="0" dirty="0" err="1"/>
              <a:t>Autoguidance</a:t>
            </a:r>
            <a:endParaRPr lang="en-US" sz="4000" noProof="0" dirty="0"/>
          </a:p>
        </p:txBody>
      </p:sp>
      <p:sp>
        <p:nvSpPr>
          <p:cNvPr id="235" name="Google Shape;235;p39">
            <a:extLst>
              <a:ext uri="{FF2B5EF4-FFF2-40B4-BE49-F238E27FC236}">
                <a16:creationId xmlns:a16="http://schemas.microsoft.com/office/drawing/2014/main" id="{0C73A051-EB79-448E-9943-0130FB7E831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88419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5CA32878-559E-E5E5-E14B-58A338B10D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6"/>
          <a:stretch>
            <a:fillRect/>
          </a:stretch>
        </p:blipFill>
        <p:spPr>
          <a:xfrm>
            <a:off x="1970049" y="456928"/>
            <a:ext cx="5203902" cy="470144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EB9E573-2727-0912-559B-6FB3D325B893}"/>
              </a:ext>
            </a:extLst>
          </p:cNvPr>
          <p:cNvSpPr txBox="1"/>
          <p:nvPr/>
        </p:nvSpPr>
        <p:spPr>
          <a:xfrm>
            <a:off x="59473" y="69283"/>
            <a:ext cx="100063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i="0" u="sng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https://proceedings.neurips.cc/paper_files/paper/2024/file/5ee7ed60a7e8169012224dec5fe0d27f-Paper-Conference.pdf</a:t>
            </a:r>
            <a:endParaRPr lang="fr-FR" sz="1050" dirty="0"/>
          </a:p>
        </p:txBody>
      </p:sp>
    </p:spTree>
    <p:extLst>
      <p:ext uri="{BB962C8B-B14F-4D97-AF65-F5344CB8AC3E}">
        <p14:creationId xmlns:p14="http://schemas.microsoft.com/office/powerpoint/2010/main" val="1468728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D7B2547-0172-87F0-7DAF-B2385DCEBEA4}"/>
              </a:ext>
            </a:extLst>
          </p:cNvPr>
          <p:cNvSpPr txBox="1"/>
          <p:nvPr/>
        </p:nvSpPr>
        <p:spPr>
          <a:xfrm>
            <a:off x="252761" y="297366"/>
            <a:ext cx="48768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noProof="0" dirty="0" err="1">
                <a:latin typeface="Alexandria Medium" panose="020B0604020202020204" charset="-78"/>
                <a:cs typeface="Alexandria Medium" panose="020B0604020202020204" charset="-78"/>
              </a:rPr>
              <a:t>Autoguidance</a:t>
            </a:r>
            <a:endParaRPr lang="en-US" sz="2500" noProof="0" dirty="0">
              <a:latin typeface="Alexandria Medium" panose="020B0604020202020204" charset="-78"/>
              <a:cs typeface="Alexandria Medium" panose="020B0604020202020204" charset="-78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5111891-3B57-E536-323E-87349376921E}"/>
              </a:ext>
            </a:extLst>
          </p:cNvPr>
          <p:cNvSpPr txBox="1"/>
          <p:nvPr/>
        </p:nvSpPr>
        <p:spPr>
          <a:xfrm>
            <a:off x="252761" y="828866"/>
            <a:ext cx="8259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Alexandria Medium" panose="020B0604020202020204" charset="-78"/>
                <a:cs typeface="Alexandria Medium" panose="020B0604020202020204" charset="-78"/>
              </a:rPr>
              <a:t>Idea : -&gt;  the model is guided with an inferior version of itself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85F2A18-ABE0-B882-C4D0-A5C3C8B1E1C1}"/>
              </a:ext>
            </a:extLst>
          </p:cNvPr>
          <p:cNvSpPr txBox="1"/>
          <p:nvPr/>
        </p:nvSpPr>
        <p:spPr>
          <a:xfrm>
            <a:off x="341973" y="2177924"/>
            <a:ext cx="78430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 err="1"/>
              <a:t>Inferior</a:t>
            </a:r>
            <a:r>
              <a:rPr lang="fr-FR" u="sng" dirty="0"/>
              <a:t> version :</a:t>
            </a:r>
            <a:r>
              <a:rPr lang="fr-FR" dirty="0"/>
              <a:t>  </a:t>
            </a:r>
            <a:r>
              <a:rPr lang="fr-FR" dirty="0" err="1"/>
              <a:t>Less</a:t>
            </a:r>
            <a:r>
              <a:rPr lang="fr-FR" dirty="0"/>
              <a:t> </a:t>
            </a:r>
            <a:r>
              <a:rPr lang="fr-FR" dirty="0" err="1"/>
              <a:t>trained</a:t>
            </a:r>
            <a:r>
              <a:rPr lang="fr-FR" dirty="0"/>
              <a:t> (nb </a:t>
            </a:r>
            <a:r>
              <a:rPr lang="fr-FR" dirty="0" err="1"/>
              <a:t>epochs</a:t>
            </a:r>
            <a:r>
              <a:rPr lang="fr-FR" dirty="0"/>
              <a:t>)   AND/OR    </a:t>
            </a:r>
            <a:r>
              <a:rPr lang="fr-FR" dirty="0" err="1"/>
              <a:t>less</a:t>
            </a:r>
            <a:r>
              <a:rPr lang="fr-FR" dirty="0"/>
              <a:t> </a:t>
            </a:r>
            <a:r>
              <a:rPr lang="fr-FR" dirty="0" err="1"/>
              <a:t>layers</a:t>
            </a:r>
            <a:endParaRPr lang="fr-FR" dirty="0"/>
          </a:p>
          <a:p>
            <a:endParaRPr lang="fr-FR" dirty="0"/>
          </a:p>
          <a:p>
            <a:r>
              <a:rPr lang="fr-FR" dirty="0"/>
              <a:t>                                                                      BUT </a:t>
            </a:r>
            <a:r>
              <a:rPr lang="fr-FR" dirty="0" err="1"/>
              <a:t>should</a:t>
            </a:r>
            <a:r>
              <a:rPr lang="fr-FR" dirty="0"/>
              <a:t> have </a:t>
            </a:r>
            <a:r>
              <a:rPr lang="en-US" dirty="0"/>
              <a:t>similar errors in the same regions,</a:t>
            </a:r>
            <a:endParaRPr lang="fr-FR" dirty="0"/>
          </a:p>
        </p:txBody>
      </p:sp>
      <p:pic>
        <p:nvPicPr>
          <p:cNvPr id="8" name="Image 7" descr="Une image contenant logo, Graphique, symbole, clipart&#10;&#10;Le contenu généré par l’IA peut être incorrect.">
            <a:extLst>
              <a:ext uri="{FF2B5EF4-FFF2-40B4-BE49-F238E27FC236}">
                <a16:creationId xmlns:a16="http://schemas.microsoft.com/office/drawing/2014/main" id="{F401D470-458C-6465-D303-B413654F8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29" y="3301774"/>
            <a:ext cx="596088" cy="523220"/>
          </a:xfrm>
          <a:prstGeom prst="rect">
            <a:avLst/>
          </a:prstGeom>
        </p:spPr>
      </p:pic>
      <p:pic>
        <p:nvPicPr>
          <p:cNvPr id="9" name="Image 8" descr="Une image contenant logo, Graphique, symbole, clipart&#10;&#10;Le contenu généré par l’IA peut être incorrect.">
            <a:extLst>
              <a:ext uri="{FF2B5EF4-FFF2-40B4-BE49-F238E27FC236}">
                <a16:creationId xmlns:a16="http://schemas.microsoft.com/office/drawing/2014/main" id="{4C9CB3CA-986D-A079-BE71-6D99A598D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816" y="3233008"/>
            <a:ext cx="546088" cy="534867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0896797-873C-8125-5FF6-340CD7E09D72}"/>
              </a:ext>
            </a:extLst>
          </p:cNvPr>
          <p:cNvCxnSpPr>
            <a:cxnSpLocks/>
          </p:cNvCxnSpPr>
          <p:nvPr/>
        </p:nvCxnSpPr>
        <p:spPr>
          <a:xfrm>
            <a:off x="4438185" y="3301774"/>
            <a:ext cx="0" cy="15547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A87B0E28-14BE-4A4F-C815-6567DAC0512D}"/>
              </a:ext>
            </a:extLst>
          </p:cNvPr>
          <p:cNvSpPr txBox="1"/>
          <p:nvPr/>
        </p:nvSpPr>
        <p:spPr>
          <a:xfrm>
            <a:off x="2003514" y="3260421"/>
            <a:ext cx="21261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Improves the  image quality</a:t>
            </a:r>
          </a:p>
          <a:p>
            <a:endParaRPr lang="fr-FR" sz="1200" dirty="0"/>
          </a:p>
          <a:p>
            <a:pPr marL="285750" indent="-285750">
              <a:buFontTx/>
              <a:buChar char="-"/>
            </a:pPr>
            <a:r>
              <a:rPr lang="en-US" sz="1200" dirty="0"/>
              <a:t>Preserves Identity</a:t>
            </a:r>
            <a:r>
              <a:rPr lang="en-US" sz="1200" b="1" dirty="0"/>
              <a:t>:</a:t>
            </a:r>
            <a:r>
              <a:rPr lang="en-US" sz="1200" dirty="0"/>
              <a:t> Better at keeping the "soul" of an image intact while changing its geometry.</a:t>
            </a:r>
            <a:endParaRPr 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5D7662B-38E9-C10E-26C7-8DFD74AEB0D6}"/>
              </a:ext>
            </a:extLst>
          </p:cNvPr>
          <p:cNvSpPr txBox="1"/>
          <p:nvPr/>
        </p:nvSpPr>
        <p:spPr>
          <a:xfrm>
            <a:off x="5705350" y="3050897"/>
            <a:ext cx="21294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200" dirty="0"/>
          </a:p>
          <a:p>
            <a:pPr marL="285750" indent="-285750">
              <a:buFontTx/>
              <a:buChar char="-"/>
            </a:pPr>
            <a:r>
              <a:rPr lang="en-US" sz="1200" dirty="0"/>
              <a:t>2 models to train</a:t>
            </a:r>
          </a:p>
          <a:p>
            <a:endParaRPr lang="en-US" sz="1200" dirty="0"/>
          </a:p>
          <a:p>
            <a:pPr marL="285750" indent="-285750">
              <a:buFontTx/>
              <a:buChar char="-"/>
            </a:pPr>
            <a:r>
              <a:rPr lang="en-US" sz="1200" dirty="0"/>
              <a:t>May exhibit less prompt alignment compared to CFG.</a:t>
            </a:r>
            <a:endParaRPr lang="fr-FR" sz="120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DC6E1F5-A6B8-5267-BA10-F80DFDAFD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074" y="1191089"/>
            <a:ext cx="5915851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616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fleur, motif&#10;&#10;Le contenu généré par l’IA peut être incorrect.">
            <a:extLst>
              <a:ext uri="{FF2B5EF4-FFF2-40B4-BE49-F238E27FC236}">
                <a16:creationId xmlns:a16="http://schemas.microsoft.com/office/drawing/2014/main" id="{75CF4398-61B8-23B5-15B8-BAF5C9141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047" y="1014886"/>
            <a:ext cx="6555906" cy="311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98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CE3CDB52-FDBA-F3BF-28F8-A2103927B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7636F35F-7783-7255-97DE-6BF60518BA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3325402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noProof="0" dirty="0"/>
              <a:t>Results</a:t>
            </a:r>
          </a:p>
        </p:txBody>
      </p:sp>
      <p:sp>
        <p:nvSpPr>
          <p:cNvPr id="235" name="Google Shape;235;p39">
            <a:extLst>
              <a:ext uri="{FF2B5EF4-FFF2-40B4-BE49-F238E27FC236}">
                <a16:creationId xmlns:a16="http://schemas.microsoft.com/office/drawing/2014/main" id="{E41ECA27-EDB6-5B31-C705-75551642EDC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2781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0C116745-3B1D-2CE0-B618-6EB9BB366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40" y="299269"/>
            <a:ext cx="5309155" cy="2461355"/>
          </a:xfrm>
          <a:prstGeom prst="rect">
            <a:avLst/>
          </a:prstGeom>
        </p:spPr>
      </p:pic>
      <p:pic>
        <p:nvPicPr>
          <p:cNvPr id="5" name="Image 4" descr="Une image contenant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60DC8C68-35E3-EB6D-1E18-6FCC7960B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224" y="2936227"/>
            <a:ext cx="5926991" cy="190800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418C20D-500D-7FB0-386C-F32223B24F16}"/>
              </a:ext>
            </a:extLst>
          </p:cNvPr>
          <p:cNvSpPr txBox="1"/>
          <p:nvPr/>
        </p:nvSpPr>
        <p:spPr>
          <a:xfrm>
            <a:off x="5820937" y="656431"/>
            <a:ext cx="30722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/>
              <a:t>FID Score (Fréchet Inception Distance) </a:t>
            </a:r>
            <a:r>
              <a:rPr lang="fr-FR" sz="1200" dirty="0"/>
              <a:t>:</a:t>
            </a:r>
          </a:p>
          <a:p>
            <a:r>
              <a:rPr lang="en-US" sz="1200" dirty="0"/>
              <a:t>metric that measures how "real" and "diverse" </a:t>
            </a:r>
          </a:p>
          <a:p>
            <a:r>
              <a:rPr lang="en-US" sz="1200" dirty="0"/>
              <a:t>AI-generated images are compared to a real dataset.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414699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collage, plein air&#10;&#10;Le contenu généré par l’IA peut être incorrect.">
            <a:extLst>
              <a:ext uri="{FF2B5EF4-FFF2-40B4-BE49-F238E27FC236}">
                <a16:creationId xmlns:a16="http://schemas.microsoft.com/office/drawing/2014/main" id="{D0815ECE-EE5D-9D22-5180-42784D40E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164" y="365439"/>
            <a:ext cx="6165672" cy="441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33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F2E4FA36-FCAC-876B-2A86-54E11452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0561498E-2AC3-9AC2-4709-D13555FBC0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3325402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3000" dirty="0"/>
              <a:t>Code </a:t>
            </a:r>
            <a:r>
              <a:rPr lang="fr-FR" sz="3000" dirty="0" err="1"/>
              <a:t>demonstration</a:t>
            </a:r>
            <a:r>
              <a:rPr lang="fr-FR" sz="3000" dirty="0"/>
              <a:t> </a:t>
            </a:r>
            <a:r>
              <a:rPr lang="en-US" sz="3000" noProof="0" dirty="0"/>
              <a:t>(cf. Notebook)</a:t>
            </a:r>
          </a:p>
        </p:txBody>
      </p:sp>
      <p:sp>
        <p:nvSpPr>
          <p:cNvPr id="235" name="Google Shape;235;p39">
            <a:extLst>
              <a:ext uri="{FF2B5EF4-FFF2-40B4-BE49-F238E27FC236}">
                <a16:creationId xmlns:a16="http://schemas.microsoft.com/office/drawing/2014/main" id="{16FBD915-5F34-C658-1775-431143D8C8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4880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apture d’écran, texte, Police, nombre&#10;&#10;Le contenu généré par l’IA peut être incorrect.">
            <a:extLst>
              <a:ext uri="{FF2B5EF4-FFF2-40B4-BE49-F238E27FC236}">
                <a16:creationId xmlns:a16="http://schemas.microsoft.com/office/drawing/2014/main" id="{0E79F089-FDE2-B603-2E43-941A23634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12" y="1671507"/>
            <a:ext cx="7092176" cy="244973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178EFCA-ABED-FF6B-4455-09778DD902DB}"/>
              </a:ext>
            </a:extLst>
          </p:cNvPr>
          <p:cNvSpPr txBox="1"/>
          <p:nvPr/>
        </p:nvSpPr>
        <p:spPr>
          <a:xfrm>
            <a:off x="215590" y="398172"/>
            <a:ext cx="66089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Architecture : U-Net</a:t>
            </a:r>
          </a:p>
          <a:p>
            <a:endParaRPr lang="fr-FR" dirty="0"/>
          </a:p>
          <a:p>
            <a:r>
              <a:rPr lang="fr-FR" dirty="0"/>
              <a:t>Sampler : Euler-</a:t>
            </a:r>
            <a:r>
              <a:rPr lang="fr-FR" dirty="0" err="1"/>
              <a:t>Maruyama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1760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59876202-B4A0-5CA7-69A8-28FADF50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17913BDF-A4F5-CB7D-5F76-475DC5EF23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3325402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noProof="0" dirty="0"/>
              <a:t>Discussion &amp; future work</a:t>
            </a:r>
          </a:p>
        </p:txBody>
      </p:sp>
      <p:sp>
        <p:nvSpPr>
          <p:cNvPr id="235" name="Google Shape;235;p39">
            <a:extLst>
              <a:ext uri="{FF2B5EF4-FFF2-40B4-BE49-F238E27FC236}">
                <a16:creationId xmlns:a16="http://schemas.microsoft.com/office/drawing/2014/main" id="{CAF07CBB-3B2A-CA34-A544-F391A8CEC9B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92577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10">
            <a:extLst>
              <a:ext uri="{FF2B5EF4-FFF2-40B4-BE49-F238E27FC236}">
                <a16:creationId xmlns:a16="http://schemas.microsoft.com/office/drawing/2014/main" id="{445662B5-7A5F-A9D9-45E9-C40C4F913B5F}"/>
              </a:ext>
            </a:extLst>
          </p:cNvPr>
          <p:cNvSpPr txBox="1"/>
          <p:nvPr/>
        </p:nvSpPr>
        <p:spPr>
          <a:xfrm>
            <a:off x="367991" y="507752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Challenges &amp; Limitations</a:t>
            </a:r>
          </a:p>
          <a:p>
            <a:endParaRPr lang="fr-FR" b="1" dirty="0"/>
          </a:p>
          <a:p>
            <a:pPr marL="285750" indent="-285750">
              <a:buFontTx/>
              <a:buChar char="-"/>
            </a:pPr>
            <a:r>
              <a:rPr lang="en-US" sz="1200" b="1" dirty="0"/>
              <a:t>Snapshot Availability:</a:t>
            </a:r>
            <a:r>
              <a:rPr lang="en-US" sz="1200" dirty="0"/>
              <a:t> Using early snapshots of smaller models is ideal but rarely available for current large-scale generators.</a:t>
            </a:r>
          </a:p>
          <a:p>
            <a:pPr marL="285750" indent="-285750">
              <a:buFontTx/>
              <a:buChar char="-"/>
            </a:pPr>
            <a:r>
              <a:rPr lang="en-US" sz="1200" b="1" dirty="0"/>
              <a:t>Distribution Shifts:</a:t>
            </a:r>
            <a:r>
              <a:rPr lang="en-US" sz="1200" dirty="0"/>
              <a:t> Successive training stages with changing data can cause shifts between snapshots, potentially violating model assumptions.</a:t>
            </a:r>
            <a:endParaRPr lang="fr-FR" sz="1200" b="1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68C3C39-3939-C173-23E8-63E023B26272}"/>
              </a:ext>
            </a:extLst>
          </p:cNvPr>
          <p:cNvSpPr txBox="1"/>
          <p:nvPr/>
        </p:nvSpPr>
        <p:spPr>
          <a:xfrm>
            <a:off x="4374995" y="2388979"/>
            <a:ext cx="45720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Future Directions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en-US" sz="1200" b="1" dirty="0"/>
              <a:t>Selection Rules:</a:t>
            </a:r>
            <a:r>
              <a:rPr lang="en-US" sz="1200" dirty="0"/>
              <a:t> Developing rules to automatically select the optimal guiding model.</a:t>
            </a:r>
          </a:p>
          <a:p>
            <a:pPr marL="285750" indent="-285750">
              <a:buFontTx/>
              <a:buChar char="-"/>
            </a:pPr>
            <a:r>
              <a:rPr lang="en-US" sz="1200" b="1" dirty="0"/>
              <a:t>New Metrics:</a:t>
            </a:r>
            <a:r>
              <a:rPr lang="en-US" sz="1200" dirty="0"/>
              <a:t> Using Human Preference Scores or </a:t>
            </a:r>
            <a:r>
              <a:rPr lang="en-US" sz="1200" dirty="0" err="1"/>
              <a:t>PickScore</a:t>
            </a:r>
            <a:r>
              <a:rPr lang="en-US" sz="1200" dirty="0"/>
              <a:t> to further isolate the origins of image quality improvements.</a:t>
            </a:r>
          </a:p>
          <a:p>
            <a:pPr marL="285750" indent="-285750">
              <a:buFontTx/>
              <a:buChar char="-"/>
            </a:pPr>
            <a:r>
              <a:rPr lang="en-US" sz="1200" b="1" dirty="0"/>
              <a:t>Hybrid Methods:</a:t>
            </a:r>
            <a:r>
              <a:rPr lang="en-US" sz="1200" dirty="0"/>
              <a:t> Studying combinations of </a:t>
            </a:r>
            <a:r>
              <a:rPr lang="en-US" sz="1200" dirty="0" err="1"/>
              <a:t>autoguidance</a:t>
            </a:r>
            <a:r>
              <a:rPr lang="en-US" sz="1200" dirty="0"/>
              <a:t> with other techniques like attention perturbation or noise-dependent schedules.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198467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Resources</a:t>
            </a:r>
          </a:p>
        </p:txBody>
      </p:sp>
      <p:sp>
        <p:nvSpPr>
          <p:cNvPr id="667" name="Google Shape;667;p71"/>
          <p:cNvSpPr txBox="1">
            <a:spLocks noGrp="1"/>
          </p:cNvSpPr>
          <p:nvPr>
            <p:ph type="body" idx="4294967295"/>
          </p:nvPr>
        </p:nvSpPr>
        <p:spPr>
          <a:xfrm>
            <a:off x="715050" y="1314159"/>
            <a:ext cx="7713900" cy="3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 err="1"/>
              <a:t>NeurIPS</a:t>
            </a:r>
            <a:r>
              <a:rPr lang="fr-FR" b="1" dirty="0"/>
              <a:t> Paper (2024):</a:t>
            </a:r>
            <a:r>
              <a:rPr lang="fr-FR" dirty="0"/>
              <a:t> </a:t>
            </a:r>
            <a:r>
              <a:rPr lang="fr-FR" dirty="0" err="1"/>
              <a:t>Karras</a:t>
            </a:r>
            <a:r>
              <a:rPr lang="fr-FR" dirty="0"/>
              <a:t>, T., </a:t>
            </a:r>
            <a:r>
              <a:rPr lang="fr-FR" dirty="0" err="1"/>
              <a:t>Aittala</a:t>
            </a:r>
            <a:r>
              <a:rPr lang="fr-FR" dirty="0"/>
              <a:t>, M., </a:t>
            </a:r>
            <a:r>
              <a:rPr lang="fr-FR" dirty="0" err="1"/>
              <a:t>Kynkäänniemi</a:t>
            </a:r>
            <a:r>
              <a:rPr lang="fr-FR" dirty="0"/>
              <a:t>, T., </a:t>
            </a:r>
            <a:r>
              <a:rPr lang="fr-FR" dirty="0" err="1"/>
              <a:t>Lehtinen</a:t>
            </a:r>
            <a:r>
              <a:rPr lang="fr-FR" dirty="0"/>
              <a:t>, J., Aila, T., &amp; Laine, S. (2024). </a:t>
            </a:r>
            <a:r>
              <a:rPr lang="fr-FR" dirty="0" err="1"/>
              <a:t>Guiding</a:t>
            </a:r>
            <a:r>
              <a:rPr lang="fr-FR" dirty="0"/>
              <a:t> a Diffusion Model </a:t>
            </a:r>
            <a:r>
              <a:rPr lang="fr-FR" dirty="0" err="1"/>
              <a:t>with</a:t>
            </a:r>
            <a:r>
              <a:rPr lang="fr-FR" dirty="0"/>
              <a:t> a Bad Version of </a:t>
            </a:r>
            <a:r>
              <a:rPr lang="fr-FR" dirty="0" err="1"/>
              <a:t>Itself</a:t>
            </a:r>
            <a:r>
              <a:rPr lang="fr-FR" dirty="0"/>
              <a:t>. In </a:t>
            </a:r>
            <a:r>
              <a:rPr lang="fr-FR" i="1" dirty="0" err="1"/>
              <a:t>Advances</a:t>
            </a:r>
            <a:r>
              <a:rPr lang="fr-FR" i="1" dirty="0"/>
              <a:t> in Neural Information </a:t>
            </a:r>
            <a:r>
              <a:rPr lang="fr-FR" i="1" dirty="0" err="1"/>
              <a:t>Processing</a:t>
            </a:r>
            <a:r>
              <a:rPr lang="fr-FR" i="1" dirty="0"/>
              <a:t> </a:t>
            </a:r>
            <a:r>
              <a:rPr lang="fr-FR" i="1" dirty="0" err="1"/>
              <a:t>Systems</a:t>
            </a:r>
            <a:r>
              <a:rPr lang="fr-FR" i="1" dirty="0"/>
              <a:t> 37</a:t>
            </a:r>
            <a:r>
              <a:rPr lang="fr-FR" dirty="0"/>
              <a:t> (</a:t>
            </a:r>
            <a:r>
              <a:rPr lang="fr-FR" dirty="0" err="1"/>
              <a:t>NeurIPS</a:t>
            </a:r>
            <a:r>
              <a:rPr lang="fr-FR" dirty="0"/>
              <a:t> 2024). </a:t>
            </a:r>
            <a:r>
              <a:rPr lang="fr-FR" dirty="0" err="1"/>
              <a:t>Retrieved</a:t>
            </a:r>
            <a:r>
              <a:rPr lang="fr-FR" dirty="0"/>
              <a:t> from </a:t>
            </a:r>
            <a:r>
              <a:rPr lang="fr-FR" dirty="0">
                <a:hlinkClick r:id="rId3"/>
              </a:rPr>
              <a:t>https://proceedings.neurips.cc/paper_files/paper/2024/file/5ee7ed60a7e8169012224dec5fe0d27f-Paper-Conference.pdf</a:t>
            </a:r>
            <a:endParaRPr lang="fr-FR" dirty="0"/>
          </a:p>
          <a:p>
            <a:pPr marL="152400" indent="0">
              <a:buNone/>
            </a:pPr>
            <a:endParaRPr lang="fr-FR" dirty="0"/>
          </a:p>
          <a:p>
            <a:r>
              <a:rPr lang="fr-FR" b="1" dirty="0" err="1"/>
              <a:t>ArXiv</a:t>
            </a:r>
            <a:r>
              <a:rPr lang="fr-FR" b="1" dirty="0"/>
              <a:t> Paper (2025):</a:t>
            </a:r>
            <a:r>
              <a:rPr lang="fr-FR" dirty="0"/>
              <a:t> Lai, C.-H., Song, Y., Kim, D., </a:t>
            </a:r>
            <a:r>
              <a:rPr lang="fr-FR" dirty="0" err="1"/>
              <a:t>Mitsufuji</a:t>
            </a:r>
            <a:r>
              <a:rPr lang="fr-FR" dirty="0"/>
              <a:t>, Y., &amp; </a:t>
            </a:r>
            <a:r>
              <a:rPr lang="fr-FR" dirty="0" err="1"/>
              <a:t>Ermon</a:t>
            </a:r>
            <a:r>
              <a:rPr lang="fr-FR" dirty="0"/>
              <a:t>, S. (2025). </a:t>
            </a:r>
            <a:r>
              <a:rPr lang="fr-FR" i="1" dirty="0"/>
              <a:t>The Principles of Diffusion </a:t>
            </a:r>
            <a:r>
              <a:rPr lang="fr-FR" i="1" dirty="0" err="1"/>
              <a:t>Models</a:t>
            </a:r>
            <a:r>
              <a:rPr lang="fr-FR" dirty="0"/>
              <a:t>. </a:t>
            </a:r>
            <a:r>
              <a:rPr lang="fr-FR" dirty="0" err="1"/>
              <a:t>arXiv</a:t>
            </a:r>
            <a:r>
              <a:rPr lang="fr-FR" dirty="0"/>
              <a:t> </a:t>
            </a:r>
            <a:r>
              <a:rPr lang="fr-FR" dirty="0" err="1"/>
              <a:t>preprint</a:t>
            </a:r>
            <a:r>
              <a:rPr lang="fr-FR" dirty="0"/>
              <a:t> arXiv:2510.21890. </a:t>
            </a:r>
            <a:r>
              <a:rPr lang="fr-FR" dirty="0" err="1"/>
              <a:t>Retrieved</a:t>
            </a:r>
            <a:r>
              <a:rPr lang="fr-FR" dirty="0"/>
              <a:t> from </a:t>
            </a:r>
            <a:r>
              <a:rPr lang="fr-FR" dirty="0">
                <a:hlinkClick r:id="rId4"/>
              </a:rPr>
              <a:t>https://arxiv.org/abs/2510.21890</a:t>
            </a:r>
            <a:endParaRPr lang="fr-FR" dirty="0"/>
          </a:p>
          <a:p>
            <a:pPr marL="152400" indent="0">
              <a:buNone/>
            </a:pPr>
            <a:endParaRPr lang="fr-FR" dirty="0"/>
          </a:p>
          <a:p>
            <a:r>
              <a:rPr lang="fr-FR" b="1" dirty="0"/>
              <a:t>YouTube </a:t>
            </a:r>
            <a:r>
              <a:rPr lang="fr-FR" b="1" dirty="0" err="1"/>
              <a:t>Video</a:t>
            </a:r>
            <a:r>
              <a:rPr lang="fr-FR" b="1" dirty="0"/>
              <a:t>:</a:t>
            </a:r>
            <a:r>
              <a:rPr lang="fr-FR" dirty="0"/>
              <a:t> Welch </a:t>
            </a:r>
            <a:r>
              <a:rPr lang="fr-FR" dirty="0" err="1"/>
              <a:t>Labs</a:t>
            </a:r>
            <a:r>
              <a:rPr lang="fr-FR" dirty="0"/>
              <a:t>. (2024, July 25). </a:t>
            </a:r>
            <a:r>
              <a:rPr lang="fr-FR" i="1" dirty="0"/>
              <a:t>But how do AI images and </a:t>
            </a:r>
            <a:r>
              <a:rPr lang="fr-FR" i="1" dirty="0" err="1"/>
              <a:t>videos</a:t>
            </a:r>
            <a:r>
              <a:rPr lang="fr-FR" i="1" dirty="0"/>
              <a:t> </a:t>
            </a:r>
            <a:r>
              <a:rPr lang="fr-FR" i="1" dirty="0" err="1"/>
              <a:t>actually</a:t>
            </a:r>
            <a:r>
              <a:rPr lang="fr-FR" i="1" dirty="0"/>
              <a:t> </a:t>
            </a:r>
            <a:r>
              <a:rPr lang="fr-FR" i="1" dirty="0" err="1"/>
              <a:t>work</a:t>
            </a:r>
            <a:r>
              <a:rPr lang="fr-FR" i="1" dirty="0"/>
              <a:t>? | Guest </a:t>
            </a:r>
            <a:r>
              <a:rPr lang="fr-FR" i="1" dirty="0" err="1"/>
              <a:t>video</a:t>
            </a:r>
            <a:r>
              <a:rPr lang="fr-FR" i="1" dirty="0"/>
              <a:t> by Welch </a:t>
            </a:r>
            <a:r>
              <a:rPr lang="fr-FR" i="1" dirty="0" err="1"/>
              <a:t>Labs</a:t>
            </a:r>
            <a:r>
              <a:rPr lang="fr-FR" dirty="0"/>
              <a:t> [</a:t>
            </a:r>
            <a:r>
              <a:rPr lang="fr-FR" dirty="0" err="1"/>
              <a:t>Video</a:t>
            </a:r>
            <a:r>
              <a:rPr lang="fr-FR" dirty="0"/>
              <a:t>]. YouTube. </a:t>
            </a:r>
            <a:r>
              <a:rPr lang="fr-FR" dirty="0" err="1"/>
              <a:t>Retrieved</a:t>
            </a:r>
            <a:r>
              <a:rPr lang="fr-FR" dirty="0"/>
              <a:t> from </a:t>
            </a:r>
            <a:r>
              <a:rPr lang="fr-FR" dirty="0">
                <a:hlinkClick r:id="rId5"/>
              </a:rPr>
              <a:t>https://www.youtube.com/watch?v=iv-5mZ_9CPY</a:t>
            </a:r>
            <a:r>
              <a:rPr lang="fr-FR" dirty="0"/>
              <a:t> (</a:t>
            </a:r>
            <a:r>
              <a:rPr lang="fr-FR" dirty="0" err="1"/>
              <a:t>Featured</a:t>
            </a:r>
            <a:r>
              <a:rPr lang="fr-FR" dirty="0"/>
              <a:t> on the 3Blue1Brown </a:t>
            </a:r>
            <a:r>
              <a:rPr lang="fr-FR" dirty="0" err="1"/>
              <a:t>channel</a:t>
            </a:r>
            <a:r>
              <a:rPr lang="fr-FR" dirty="0"/>
              <a:t>).</a:t>
            </a: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lang="en-US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9"/>
          <p:cNvSpPr txBox="1">
            <a:spLocks noGrp="1"/>
          </p:cNvSpPr>
          <p:nvPr>
            <p:ph type="ctrTitle"/>
          </p:nvPr>
        </p:nvSpPr>
        <p:spPr>
          <a:xfrm>
            <a:off x="715100" y="3330625"/>
            <a:ext cx="38568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Thanks!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3462</TotalTime>
  <Words>500</Words>
  <Application>Microsoft Office PowerPoint</Application>
  <PresentationFormat>Affichage à l'écran (16:9)</PresentationFormat>
  <Paragraphs>73</Paragraphs>
  <Slides>21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Alexandria Medium</vt:lpstr>
      <vt:lpstr>Albert Sans</vt:lpstr>
      <vt:lpstr>Lead Funnel by Slidesgo</vt:lpstr>
      <vt:lpstr>Image generation with Autoguidance</vt:lpstr>
      <vt:lpstr>01</vt:lpstr>
      <vt:lpstr>Diffusion Models</vt:lpstr>
      <vt:lpstr>Diffusion models</vt:lpstr>
      <vt:lpstr>Visualization</vt:lpstr>
      <vt:lpstr>Classifier-free guidance (CFG)</vt:lpstr>
      <vt:lpstr>Présentation PowerPoint</vt:lpstr>
      <vt:lpstr>Présentation PowerPoint</vt:lpstr>
      <vt:lpstr>Autoguidance</vt:lpstr>
      <vt:lpstr>Présentation PowerPoint</vt:lpstr>
      <vt:lpstr>Présentation PowerPoint</vt:lpstr>
      <vt:lpstr>Présentation PowerPoint</vt:lpstr>
      <vt:lpstr>Results</vt:lpstr>
      <vt:lpstr>Présentation PowerPoint</vt:lpstr>
      <vt:lpstr>Présentation PowerPoint</vt:lpstr>
      <vt:lpstr>Code demonstration (cf. Notebook)</vt:lpstr>
      <vt:lpstr>Présentation PowerPoint</vt:lpstr>
      <vt:lpstr>Discussion &amp; future work</vt:lpstr>
      <vt:lpstr>Présentation PowerPoint</vt:lpstr>
      <vt:lpstr>Resources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Baptiste Dusollier</dc:creator>
  <cp:lastModifiedBy>Baptiste DUSOLLIER</cp:lastModifiedBy>
  <cp:revision>7</cp:revision>
  <dcterms:modified xsi:type="dcterms:W3CDTF">2026-02-01T22:07:46Z</dcterms:modified>
</cp:coreProperties>
</file>